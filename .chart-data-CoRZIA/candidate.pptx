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acb76bb7a5438a" /><Relationship Type="http://schemas.openxmlformats.org/officeDocument/2006/relationships/extended-properties" Target="/docProps/app.xml" Id="R4051f1c6b4ca40ae" /><Relationship Type="http://schemas.openxmlformats.org/officeDocument/2006/relationships/officeDocument" Target="/ppt/presentation.xml" Id="R1e7d83202c8441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504fb8b7943f0"/>
  </p:sldMasterIdLst>
  <p:notesMasterIdLst>
    <p:notesMasterId xmlns:r="http://schemas.openxmlformats.org/officeDocument/2006/relationships" r:id="Re059bd74bb6543e3"/>
  </p:notesMasterIdLst>
  <p:sldIdLst>
    <p:sldId xmlns:r="http://schemas.openxmlformats.org/officeDocument/2006/relationships" id="256" r:id="Ra77020b221da4388"/>
    <p:sldId xmlns:r="http://schemas.openxmlformats.org/officeDocument/2006/relationships" id="257" r:id="R81047ebd7e1b4745"/>
    <p:sldId xmlns:r="http://schemas.openxmlformats.org/officeDocument/2006/relationships" id="258" r:id="R6276701c4452406a"/>
    <p:sldId xmlns:r="http://schemas.openxmlformats.org/officeDocument/2006/relationships" id="259" r:id="Rd4ca6ee8408c4a87"/>
    <p:sldId xmlns:r="http://schemas.openxmlformats.org/officeDocument/2006/relationships" id="260" r:id="Rcb6ecc023efd4119"/>
    <p:sldId xmlns:r="http://schemas.openxmlformats.org/officeDocument/2006/relationships" id="261" r:id="R6fad5bbeaea340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60df7c2f64391" /><Relationship Type="http://schemas.openxmlformats.org/officeDocument/2006/relationships/slideMaster" Target="/ppt/slideMasters/slideMaster1.xml" Id="Rfe7504fb8b7943f0" /><Relationship Type="http://schemas.openxmlformats.org/officeDocument/2006/relationships/notesMaster" Target="/ppt/notesMasters/notesMaster1.xml" Id="Re059bd74bb6543e3" /><Relationship Type="http://schemas.openxmlformats.org/officeDocument/2006/relationships/presProps" Target="/ppt/presProps.xml" Id="R1cb1b8abcac14748" /><Relationship Type="http://schemas.openxmlformats.org/officeDocument/2006/relationships/tableStyles" Target="/ppt/tableStyles.xml" Id="R660474cc10b94446" /><Relationship Type="http://schemas.openxmlformats.org/officeDocument/2006/relationships/slide" Target="/ppt/slides/slide1.xml" Id="Ra77020b221da4388" /><Relationship Type="http://schemas.openxmlformats.org/officeDocument/2006/relationships/slide" Target="/ppt/slides/slide2.xml" Id="R81047ebd7e1b4745" /><Relationship Type="http://schemas.openxmlformats.org/officeDocument/2006/relationships/slide" Target="/ppt/slides/slide3.xml" Id="R6276701c4452406a" /><Relationship Type="http://schemas.openxmlformats.org/officeDocument/2006/relationships/slide" Target="/ppt/slides/slide4.xml" Id="Rd4ca6ee8408c4a87" /><Relationship Type="http://schemas.openxmlformats.org/officeDocument/2006/relationships/slide" Target="/ppt/slides/slide5.xml" Id="Rcb6ecc023efd4119" /><Relationship Type="http://schemas.openxmlformats.org/officeDocument/2006/relationships/slide" Target="/ppt/slides/slide6.xml" Id="R6fad5bbeaea340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fbff092bd646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34f58d7eba484e" /><Relationship Type="http://schemas.openxmlformats.org/officeDocument/2006/relationships/notesMaster" Target="/ppt/notesMasters/notesMaster1.xml" Id="R6a69c8ddf8ad43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d2434c9d0a4b42" /><Relationship Type="http://schemas.openxmlformats.org/officeDocument/2006/relationships/notesMaster" Target="/ppt/notesMasters/notesMaster1.xml" Id="R877e585c7fe946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29e549571b445c" /><Relationship Type="http://schemas.openxmlformats.org/officeDocument/2006/relationships/notesMaster" Target="/ppt/notesMasters/notesMaster1.xml" Id="Rf279291dd98647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3c9b0034f347f2" /><Relationship Type="http://schemas.openxmlformats.org/officeDocument/2006/relationships/notesMaster" Target="/ppt/notesMasters/notesMaster1.xml" Id="R7224486e660a4d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5014524fc042dc" /><Relationship Type="http://schemas.openxmlformats.org/officeDocument/2006/relationships/notesMaster" Target="/ppt/notesMasters/notesMaster1.xml" Id="R0f27cffd2b3d45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637c631fb04ff8" /><Relationship Type="http://schemas.openxmlformats.org/officeDocument/2006/relationships/notesMaster" Target="/ppt/notesMasters/notesMaster1.xml" Id="R5f75c76860034b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Мотивація автора: аналітика у власних проєктах і викладання студентам; фінальний проєкт курсу. PROJECT_CONCEPT.md, planning/presentation-brief.md. Зображення книжок — AI-ілюстрація за наданими обкладинками, не фотографія реальної події. Принципи графіків походять із основної лекції.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Погоджений сценарій: завантаження → метадані → огляд → підготовка → модель → перевірка → висновки → звіт. AI викликається явною дією. LLM складає SQL, сервіс перевіряє і виконує його. Код assistant.py, analytical_queries.py. Схему архітектури автор попросив оновити після реалізації.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Джерело: UCI Seoul Bike Sharing Demand, DOI https://doi.org/10.24432/C5F62R, CC BY 4.0. Дані 2017-12-01–2018-11-30. Фільтр Functioning Day=Yes, 8465 годин; 295 годин закритої системи виключено. Середнє о 18:00 =1554.0169971671387, n=353. SQL і незалежна звірка CSV: tools/seoul_demo.py; deliverables/seoul-demo/facts.json.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 саме джерело UCI й фільтр відкритої системи. Це описові середні, не причинний ефект сезону. Вибірки за сезонами різні: n у deliverables/seoul-demo/seasonal.csv; повні точні значення у facts.json.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Демонстраційний вибір агента: лінійна регресія; Hour як категорія, Temperature, Humidity, Wind speed, Seasons; one-hot; random 70/30, seed42. Train-only підготовка. Метрики та коефіцієнти: facts.json. Випадковий поділ часових даних не доводить якість прогнозу майбутнього; можливі від’ємні прогнози.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Ролі за формулюванням автора planning/presentation-brief.md: код сервісу написано із Codex; автор визначає напрям, тестує і приймає результат. Автоматичні перевірки агента окремо: check-115-final.log317/317; браузерний сценарій, реальний SQL OpenAI та RAG. Це чернетка презентації; приймання автора очікується.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36491c83046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c3ec4627c42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91b0002ce46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381bcd9674a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e0e9f2a664c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a3efab00a42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5B6732-4C82-47A7-A578-493FA24C01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882CBC-FDBE-462E-B598-D001A03C82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B115A81-34C8-44C7-AE44-F5B0242AF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6FFC47-6258-469C-BC5D-D18BB48CA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86013E-6BFC-4747-A035-743A793E8F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A66071-7475-4A8E-968E-9DAB1187D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DAF219-EF4D-4E3E-BFCF-501B7AF450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8CF059-D4CC-4F69-9385-E3AFCF3DEB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14F7D6-041A-4FFB-A942-6461FC6BF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674717-11ED-41B8-A137-A444C376F4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00ca51ccd04324" /><Relationship Type="http://schemas.openxmlformats.org/officeDocument/2006/relationships/slideLayout" Target="/ppt/slideLayouts/slideLayout1.xml" Id="R176aea4677744c90" /><Relationship Type="http://schemas.openxmlformats.org/officeDocument/2006/relationships/slideLayout" Target="/ppt/slideLayouts/slideLayout2.xml" Id="R4e1939c258a34f95" /><Relationship Type="http://schemas.openxmlformats.org/officeDocument/2006/relationships/slideLayout" Target="/ppt/slideLayouts/slideLayout3.xml" Id="R72d0f9661f134825" /><Relationship Type="http://schemas.openxmlformats.org/officeDocument/2006/relationships/slideLayout" Target="/ppt/slideLayouts/slideLayout4.xml" Id="Rdcca073064054332" /><Relationship Type="http://schemas.openxmlformats.org/officeDocument/2006/relationships/slideLayout" Target="/ppt/slideLayouts/slideLayout5.xml" Id="R6394f29364ae499b" /><Relationship Type="http://schemas.openxmlformats.org/officeDocument/2006/relationships/slideLayout" Target="/ppt/slideLayouts/slideLayout6.xml" Id="Rb7c25616619444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aea4677744c90"/>
    <p:sldLayoutId xmlns:r="http://schemas.openxmlformats.org/officeDocument/2006/relationships" id="2147483650" r:id="R4e1939c258a34f95"/>
    <p:sldLayoutId xmlns:r="http://schemas.openxmlformats.org/officeDocument/2006/relationships" id="2147483651" r:id="R72d0f9661f134825"/>
    <p:sldLayoutId xmlns:r="http://schemas.openxmlformats.org/officeDocument/2006/relationships" id="2147483652" r:id="Rdcca073064054332"/>
    <p:sldLayoutId xmlns:r="http://schemas.openxmlformats.org/officeDocument/2006/relationships" id="2147483653" r:id="R6394f29364ae499b"/>
    <p:sldLayoutId xmlns:r="http://schemas.openxmlformats.org/officeDocument/2006/relationships" id="2147483654" r:id="Rb7c25616619444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f716b426e46c0" /><Relationship Type="http://schemas.openxmlformats.org/officeDocument/2006/relationships/image" Target="/ppt/media/image.png" Id="R7d7b514f84214e15" /><Relationship Type="http://schemas.openxmlformats.org/officeDocument/2006/relationships/notesSlide" Target="/ppt/notesSlides/notesSlide1.xml" Id="R130087c6589847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544053b70479d" /><Relationship Type="http://schemas.openxmlformats.org/officeDocument/2006/relationships/notesSlide" Target="/ppt/notesSlides/notesSlide2.xml" Id="R1918eaf18f284c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ade3b3e6b540fb" /><Relationship Type="http://schemas.openxmlformats.org/officeDocument/2006/relationships/chart" Target="/ppt/slides/charts/chart1.xml" Id="R7e893cf7c1fa44f5" /><Relationship Type="http://schemas.openxmlformats.org/officeDocument/2006/relationships/notesSlide" Target="/ppt/notesSlides/notesSlide3.xml" Id="R6238845c4c0a43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ac2234e5e4f05" /><Relationship Type="http://schemas.openxmlformats.org/officeDocument/2006/relationships/chart" Target="/ppt/slides/charts/chart2.xml" Id="R082200952ca54a37" /><Relationship Type="http://schemas.openxmlformats.org/officeDocument/2006/relationships/notesSlide" Target="/ppt/notesSlides/notesSlide4.xml" Id="R3983b3b384f843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7317920c04eb0" /><Relationship Type="http://schemas.openxmlformats.org/officeDocument/2006/relationships/notesSlide" Target="/ppt/notesSlides/notesSlide5.xml" Id="Reab79d78d3ec4f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de28aa11d4c4b" /><Relationship Type="http://schemas.openxmlformats.org/officeDocument/2006/relationships/notesSlide" Target="/ppt/notesSlides/notesSlide6.xml" Id="R2dbf2e6608714e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Прокатів за годину</c:v>
          </c:tx>
          <c:spPr>
            <a:solidFill xmlns:a="http://schemas.openxmlformats.org/drawingml/2006/main">
              <a:srgbClr val="C3C6CA"/>
            </a:solidFill>
          </c:spPr>
          <c:invertIfNegative val="0"/>
          <c:dPt>
            <c:idx val="18"/>
            <c:invertIfNegative val="0"/>
            <c:spPr>
              <a:solidFill xmlns:a="http://schemas.openxmlformats.org/drawingml/2006/main">
                <a:srgbClr val="1B4F8A"/>
              </a:solidFill>
            </c:spPr>
          </c:dPt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1B4F8A"/>
                        </a:solidFill>
                      </a:rPr>
                      <a:t>1 554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1B4F8A"/>
                      </a:solidFill>
                    </a:defRPr>
                  </a:pPr>
                </a:p>
              </c:txPr>
              <c:dLblPos val="outEnd"/>
              <c:showVal val="1"/>
            </c:dLbl>
          </c:dLbls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0</c:formatCode>
                <c:ptCount val="24"/>
                <c:pt idx="0">
                  <c:v>561.46</c:v>
                </c:pt>
                <c:pt idx="1">
                  <c:v>441.92</c:v>
                </c:pt>
                <c:pt idx="2">
                  <c:v>312.77</c:v>
                </c:pt>
                <c:pt idx="3">
                  <c:v>210.84</c:v>
                </c:pt>
                <c:pt idx="4">
                  <c:v>137.49</c:v>
                </c:pt>
                <c:pt idx="5">
                  <c:v>144.22</c:v>
                </c:pt>
                <c:pt idx="6">
                  <c:v>298.18</c:v>
                </c:pt>
                <c:pt idx="7">
                  <c:v>626.61</c:v>
                </c:pt>
                <c:pt idx="8">
                  <c:v>1050.23</c:v>
                </c:pt>
                <c:pt idx="9">
                  <c:v>667.94</c:v>
                </c:pt>
                <c:pt idx="10">
                  <c:v>545.76</c:v>
                </c:pt>
                <c:pt idx="11">
                  <c:v>621.28</c:v>
                </c:pt>
                <c:pt idx="12">
                  <c:v>723.22</c:v>
                </c:pt>
                <c:pt idx="13">
                  <c:v>758.17</c:v>
                </c:pt>
                <c:pt idx="14">
                  <c:v>784.62</c:v>
                </c:pt>
                <c:pt idx="15">
                  <c:v>857.37</c:v>
                </c:pt>
                <c:pt idx="16">
                  <c:v>962.26</c:v>
                </c:pt>
                <c:pt idx="17">
                  <c:v>1177.21</c:v>
                </c:pt>
                <c:pt idx="18">
                  <c:v>1554.02</c:v>
                </c:pt>
                <c:pt idx="19">
                  <c:v>1235.78</c:v>
                </c:pt>
                <c:pt idx="20">
                  <c:v>1105.3</c:v>
                </c:pt>
                <c:pt idx="21">
                  <c:v>1066.51</c:v>
                </c:pt>
                <c:pt idx="22">
                  <c:v>954.17</c:v>
                </c:pt>
                <c:pt idx="23">
                  <c:v>693.94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Open Sans"/>
                    <a:ea typeface="Open Sans"/>
                    <a:cs typeface="Open Sans"/>
                  </a:rPr>
                  <a:t>Година доби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72768"/>
      </c:catAx>
      <c:valAx>
        <c:axId val="48672768"/>
        <c:scaling>
          <c:orientation val="minMax"/>
          <c:max val="18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5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Open Sans"/>
                    <a:ea typeface="Open Sans"/>
                    <a:cs typeface="Open Sans"/>
                  </a:rPr>
                  <a:t>Середня кількість прокатів за годину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Середній попит</c:v>
          </c:tx>
          <c:spPr>
            <a:solidFill xmlns:a="http://schemas.openxmlformats.org/drawingml/2006/main">
              <a:srgbClr val="C3C6C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B4F8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Літо</c:v>
                </c:pt>
                <c:pt idx="1">
                  <c:v>Осінь</c:v>
                </c:pt>
                <c:pt idx="2">
                  <c:v>Весна</c:v>
                </c:pt>
                <c:pt idx="3">
                  <c:v>Зима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1034.07</c:v>
                </c:pt>
                <c:pt idx="1">
                  <c:v>924.11</c:v>
                </c:pt>
                <c:pt idx="2">
                  <c:v>746.25</c:v>
                </c:pt>
                <c:pt idx="3">
                  <c:v>225.54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124"/>
                  </a:solidFill>
                  <a:latin typeface="Open Sans"/>
                  <a:ea typeface="Open Sans"/>
                  <a:cs typeface="Open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Open Sans"/>
                    <a:ea typeface="Open Sans"/>
                    <a:cs typeface="Open Sans"/>
                  </a:rPr>
                  <a:t>Середня кількість прокатів за годину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7EDEE-11BF-468A-BB67-9ADEAB9D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Data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9255D-7F49-4DD5-9EE8-C448CB5A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Аналітика даних</a:t>
            </a:r>
          </a:p>
          <a:p xmlns:a="http://schemas.openxmlformats.org/drawingml/2006/main">
            <a: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для роботи й навчання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4F208-72D8-410B-99BD-EBB27596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Локальний сервіс: дані,</a:t>
            </a:r>
          </a:p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графіки, моделі та AI-помічник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5CAB8-7833-45B5-9A10-1F719E4723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b514f84214e15"/>
          <a:stretch xmlns:a="http://schemas.openxmlformats.org/drawingml/2006/main"/>
        </p:blipFill>
        <p:spPr>
          <a:xfrm xmlns:a="http://schemas.openxmlformats.org/drawingml/2006/main">
            <a:off x="5953125" y="1996462"/>
            <a:ext cx="5429250" cy="30555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15EB0-3B97-488A-AB71-E3AB6CD5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MVP · Python · локальна робота</a:t>
            </a:r>
          </a:p>
        </p:txBody>
      </p:sp>
    </p:spTree>
    <p:extLst>
      <p:ext uri="{BB962C8B-B14F-4D97-AF65-F5344CB8AC3E}">
        <p14:creationId xmlns:p14="http://schemas.microsoft.com/office/powerpoint/2010/main" val="761536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28EA0-3979-4EF5-BE79-61E2A070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Аналітик керує кожним етапом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26CAC-5E92-4B07-8F2A-652CA832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Дані → огляд → підготовка</a:t>
            </a:r>
          </a:p>
          <a:p xmlns:a="http://schemas.openxmlformats.org/drawingml/2006/main">
            <a:pPr>
              <a:def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8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→ модель → перевірка → звіт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F057A-5D63-4D05-A969-DA67E55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«Порадь» · «Виконай» · «Поясни результат»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33C0C-384F-48B4-8DCF-808A4E0D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AI складає запит. Сервіс перевіряє його.</a:t>
            </a:r>
          </a:p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Користувач переглядає й застосовує зведення.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3E35B-3D15-4782-B515-C0C14EBA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Оригінальні дані, джерела й історія дій зберігаються</a:t>
            </a:r>
          </a:p>
        </p:txBody>
      </p:sp>
    </p:spTree>
    <p:extLst>
      <p:ext uri="{BB962C8B-B14F-4D97-AF65-F5344CB8AC3E}">
        <p14:creationId xmlns:p14="http://schemas.microsoft.com/office/powerpoint/2010/main" val="7142756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A3B37-A2DB-494F-B2E4-027699B2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Найвищий середній попит — о 18:00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132BB3C8-2B94-4764-8EF6-B6399629C0D6}"/>
              </a:ext>
            </a:extLst>
          </p:cNvPr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893cf7c1fa44f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AB20E-4ECA-4EA7-8B58-0B0D343A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8 465 годин відкритого прокату · UCI · грудень 2017 — листопад 2018 · CC BY 4.0</a:t>
            </a:r>
          </a:p>
        </p:txBody>
      </p:sp>
    </p:spTree>
    <p:extLst>
      <p:ext uri="{BB962C8B-B14F-4D97-AF65-F5344CB8AC3E}">
        <p14:creationId xmlns:p14="http://schemas.microsoft.com/office/powerpoint/2010/main" val="1811680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F471F-ED46-4644-BCEE-0F58C4D3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Влітку середній попит найвищий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853F1B1A-4974-4D37-A956-2A1374855F29}"/>
              </a:ext>
            </a:extLst>
          </p:cNvPr>
          <p:cNvGraphicFramePr/>
          <p:nvPr/>
        </p:nvGraphicFramePr>
        <p:xfrm>
          <a:off xmlns:a="http://schemas.openxmlformats.org/drawingml/2006/main" x="857250" y="1857375"/>
          <a:ext xmlns:a="http://schemas.openxmlformats.org/drawingml/2006/main" cx="10477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2200952ca54a37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77E19-584A-4AD7-9591-8C92AE81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Години відкритого прокату · UCI · CC BY 4.0 · різниця середніх не доводить причину</a:t>
            </a:r>
          </a:p>
        </p:txBody>
      </p:sp>
    </p:spTree>
    <p:extLst>
      <p:ext uri="{BB962C8B-B14F-4D97-AF65-F5344CB8AC3E}">
        <p14:creationId xmlns:p14="http://schemas.microsoft.com/office/powerpoint/2010/main" val="452136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66D7B-635B-4F0B-A986-D0BFB88F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Модель краще за прогноз середнім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5FB68-9683-4727-AF30-BF627399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MAE моделі: 289</a:t>
            </a:r>
          </a:p>
          <a:p xmlns:a="http://schemas.openxmlformats.org/drawingml/2006/main">
            <a:pPr>
              <a:defRPr sz="300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MAE прогнозу середнім: 516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E0CCE-5B28-4499-A7E0-FAAC6459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Тестова вибірка · R² = 0.635</a:t>
            </a:r>
          </a:p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RMSE = 383 прокатів за годину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70DE0-4A1D-42A2-855E-90F06E5C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025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Випадковий поділ показує зв’язки у цих даних.</a:t>
            </a:r>
          </a:p>
          <a:p xmlns:a="http://schemas.openxmlformats.org/drawingml/2006/main">
            <a:pPr>
              <a:defRPr sz="2025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025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Прогноз майбутнього потребує перевірки за часом.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EE143-0B45-4B2D-8877-F0630170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Демонстраційна модель · 70% навчання / 30% тест · UCI Seoul Bike Sharing Demand</a:t>
            </a:r>
          </a:p>
        </p:txBody>
      </p:sp>
    </p:spTree>
    <p:extLst>
      <p:ext uri="{BB962C8B-B14F-4D97-AF65-F5344CB8AC3E}">
        <p14:creationId xmlns:p14="http://schemas.microsoft.com/office/powerpoint/2010/main" val="756282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0DCB6-740F-48D6-B1F7-0052B8B3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3000" b="1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Результат можна перевірити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F119C-30CA-40CE-AE36-CD2EDE71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5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5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Автор: задум, рішення, перевірка</a:t>
            </a:r>
          </a:p>
          <a:p xmlns:a="http://schemas.openxmlformats.org/drawingml/2006/main">
            <a:pPr>
              <a:defRPr sz="2550" b="1">
                <a:solidFill>
                  <a:srgbClr val="1B4F8A"/>
                </a:solidFill>
                <a:latin typeface="Open Sans"/>
                <a:ea typeface="Open Sans"/>
                <a:cs typeface="Open Sans"/>
              </a:defRPr>
            </a:pPr>
            <a:r>
              <a:rPr sz="2550" b="1">
                <a:solidFill>
                  <a:srgbClr val="1B4F8A"/>
                </a:solidFill>
                <a:latin typeface="Open Sans"/>
                <a:ea typeface="Open Sans"/>
                <a:cs typeface="Open Sans"/>
              </a:rPr>
              <a:t>Codex: реалізація та автоматичні тести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12F3F-D9ED-4894-9FE3-C523495E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Дані та обчислення збережені в DuckDB</a:t>
            </a:r>
          </a:p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Запити, відповіді й помилки — у журналі</a:t>
            </a:r>
          </a:p>
          <a:p xmlns:a="http://schemas.openxmlformats.org/drawingml/2006/main">
            <a:pPr>
              <a:def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defRPr>
            </a:pPr>
            <a:r>
              <a:rPr sz="2250" b="0">
                <a:solidFill>
                  <a:srgbClr val="202124"/>
                </a:solidFill>
                <a:latin typeface="Open Sans"/>
                <a:ea typeface="Open Sans"/>
                <a:cs typeface="Open Sans"/>
              </a:rPr>
              <a:t>Знання й джерела — у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8381A-A690-4749-AFFF-8D1D00E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7A7F86"/>
                </a:solidFill>
                <a:latin typeface="Open Sans"/>
                <a:ea typeface="Open Sans"/>
                <a:cs typeface="Open Sans"/>
              </a:rPr>
              <a:t>MVP для демонстрації принципів аналітики даних і математичного моделювання</a:t>
            </a:r>
          </a:p>
        </p:txBody>
      </p:sp>
    </p:spTree>
    <p:extLst>
      <p:ext uri="{BB962C8B-B14F-4D97-AF65-F5344CB8AC3E}">
        <p14:creationId xmlns:p14="http://schemas.microsoft.com/office/powerpoint/2010/main" val="905901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2026-10-12T13:17:48.6980000Z</dcterms:created>
  <dcterms:modified xsi:type="dcterms:W3CDTF">2026-10-12T13:17:48.6980000Z</dcterms:modified>
</coreProperties>
</file>