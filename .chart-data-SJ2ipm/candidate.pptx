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4679b6a301441a9" /><Relationship Type="http://schemas.openxmlformats.org/officeDocument/2006/relationships/extended-properties" Target="/docProps/app.xml" Id="R5c29fa05f2e848a8" /><Relationship Type="http://schemas.openxmlformats.org/officeDocument/2006/relationships/officeDocument" Target="/ppt/presentation.xml" Id="R8107b7b5730e43f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b0a48fb7544098"/>
  </p:sldMasterIdLst>
  <p:notesMasterIdLst>
    <p:notesMasterId xmlns:r="http://schemas.openxmlformats.org/officeDocument/2006/relationships" r:id="Ree7e2b1591244a54"/>
  </p:notesMasterIdLst>
  <p:sldIdLst>
    <p:sldId xmlns:r="http://schemas.openxmlformats.org/officeDocument/2006/relationships" id="256" r:id="R3333dc5837c148bb"/>
    <p:sldId xmlns:r="http://schemas.openxmlformats.org/officeDocument/2006/relationships" id="257" r:id="Rc75ffb0a3a8d42f0"/>
    <p:sldId xmlns:r="http://schemas.openxmlformats.org/officeDocument/2006/relationships" id="258" r:id="R4b8e34c8dedc47e4"/>
    <p:sldId xmlns:r="http://schemas.openxmlformats.org/officeDocument/2006/relationships" id="259" r:id="R91c42cf120f24555"/>
    <p:sldId xmlns:r="http://schemas.openxmlformats.org/officeDocument/2006/relationships" id="260" r:id="R2fa32b3a8d14487d"/>
    <p:sldId xmlns:r="http://schemas.openxmlformats.org/officeDocument/2006/relationships" id="261" r:id="R1e70ef0245574cf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8b9f28ce8a1426b" /><Relationship Type="http://schemas.openxmlformats.org/officeDocument/2006/relationships/slideMaster" Target="/ppt/slideMasters/slideMaster1.xml" Id="Rbbb0a48fb7544098" /><Relationship Type="http://schemas.openxmlformats.org/officeDocument/2006/relationships/notesMaster" Target="/ppt/notesMasters/notesMaster1.xml" Id="Ree7e2b1591244a54" /><Relationship Type="http://schemas.openxmlformats.org/officeDocument/2006/relationships/presProps" Target="/ppt/presProps.xml" Id="R2c1882eccfdf4def" /><Relationship Type="http://schemas.openxmlformats.org/officeDocument/2006/relationships/tableStyles" Target="/ppt/tableStyles.xml" Id="R20bfb9ff5aa04a21" /><Relationship Type="http://schemas.openxmlformats.org/officeDocument/2006/relationships/slide" Target="/ppt/slides/slide1.xml" Id="R3333dc5837c148bb" /><Relationship Type="http://schemas.openxmlformats.org/officeDocument/2006/relationships/slide" Target="/ppt/slides/slide2.xml" Id="Rc75ffb0a3a8d42f0" /><Relationship Type="http://schemas.openxmlformats.org/officeDocument/2006/relationships/slide" Target="/ppt/slides/slide3.xml" Id="R4b8e34c8dedc47e4" /><Relationship Type="http://schemas.openxmlformats.org/officeDocument/2006/relationships/slide" Target="/ppt/slides/slide4.xml" Id="R91c42cf120f24555" /><Relationship Type="http://schemas.openxmlformats.org/officeDocument/2006/relationships/slide" Target="/ppt/slides/slide5.xml" Id="R2fa32b3a8d14487d" /><Relationship Type="http://schemas.openxmlformats.org/officeDocument/2006/relationships/slide" Target="/ppt/slides/slide6.xml" Id="R1e70ef0245574c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f137201d39416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8d6007676494e07" /><Relationship Type="http://schemas.openxmlformats.org/officeDocument/2006/relationships/notesMaster" Target="/ppt/notesMasters/notesMaster1.xml" Id="Rbe10ae7514b949c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3ddd9ac4ea74bba" /><Relationship Type="http://schemas.openxmlformats.org/officeDocument/2006/relationships/notesMaster" Target="/ppt/notesMasters/notesMaster1.xml" Id="R5444b083acc343c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d42085c98674616" /><Relationship Type="http://schemas.openxmlformats.org/officeDocument/2006/relationships/notesMaster" Target="/ppt/notesMasters/notesMaster1.xml" Id="R22e77354cbd14a2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d9a8dedd7774679" /><Relationship Type="http://schemas.openxmlformats.org/officeDocument/2006/relationships/notesMaster" Target="/ppt/notesMasters/notesMaster1.xml" Id="R85f3794fd4ce40d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579ad995d184817" /><Relationship Type="http://schemas.openxmlformats.org/officeDocument/2006/relationships/notesMaster" Target="/ppt/notesMasters/notesMaster1.xml" Id="R1b55b5db1435428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49760f1936040c5" /><Relationship Type="http://schemas.openxmlformats.org/officeDocument/2006/relationships/notesMaster" Target="/ppt/notesMasters/notesMaster1.xml" Id="R85695f30f5bb4e7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Мотивація автора: аналітика у власних проєктах і викладання студентам; фінальний проєкт курсу. PROJECT_CONCEPT.md, planning/presentation-brief.md. Зображення книжок — AI-ілюстрація за наданими обкладинками, не фотографія реальної події. Принципи графіків походять із основної лекції.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Погоджений сценарій: завантаження → метадані → огляд → підготовка → модель → перевірка → висновки → звіт. AI викликається явною дією. LLM складає SQL, сервіс перевіряє і виконує його. Код assistant.py, analytical_queries.py. Схему архітектури автор попросив оновити після реалізації.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Джерело: UCI Seoul Bike Sharing Demand, DOI https://doi.org/10.24432/C5F62R, CC BY 4.0. Дані 2017-12-01–2018-11-30. Фільтр Functioning Day=Yes, 8465 годин; 295 годин закритої системи виключено. Середнє о 18:00 =1554.0169971671387, n=353. SQL і незалежна звірка CSV: tools/seoul_demo.py; deliverables/seoul-demo/facts.json.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 саме джерело UCI й фільтр відкритої системи. Це описові середні, не причинний ефект сезону. Вибірки за сезонами різні: n у deliverables/seoul-demo/seasonal.csv; повні точні значення у facts.json.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Демонстраційний вибір агента: лінійна регресія; Hour як категорія, Temperature, Humidity, Wind speed, Seasons; one-hot; random 70/30, seed42. Train-only підготовка. Метрики та коефіцієнти: facts.json. Випадковий поділ часових даних не доводить якість прогнозу майбутнього; можливі від’ємні прогнози.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Ролі за формулюванням автора planning/presentation-brief.md: код сервісу написано із Codex; автор визначає напрям, тестує і приймає результат. Автоматичні перевірки агента окремо: check-115-final.log317/317; браузерний сценарій, реальний SQL OpenAI та RAG. Це чернетка презентації; приймання автора очікується.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b44b7226a944d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1bed144e62458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faa9907ba746d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7495af623c42d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9c7d98be24480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935215360f4b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AF50DDF-6F5B-4F23-AD24-98622904FE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27EC42A-C5EA-4370-B336-7A3CF551143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0BEC6BC-1381-4183-8E29-E716EF80E0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AA6CCE6-0732-4D52-894D-A8A803B392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BECAB4E-B4BF-4B00-B91F-B9935299311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9DC85C0-2A6A-416E-B079-E747630A32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4637298-BB66-4BD7-8B3B-A45DE5B5F81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90538EE-83A0-4766-AB90-F0E2CA3919B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8281EB4-E492-42A7-AE52-2624B7703E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AB6180E-E52D-4E59-B6F5-EDFEF3D91C6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6d9c0a1d334bde" /><Relationship Type="http://schemas.openxmlformats.org/officeDocument/2006/relationships/slideLayout" Target="/ppt/slideLayouts/slideLayout1.xml" Id="Rc02fb7fcab61472d" /><Relationship Type="http://schemas.openxmlformats.org/officeDocument/2006/relationships/slideLayout" Target="/ppt/slideLayouts/slideLayout2.xml" Id="R23c72ed4239a42d3" /><Relationship Type="http://schemas.openxmlformats.org/officeDocument/2006/relationships/slideLayout" Target="/ppt/slideLayouts/slideLayout3.xml" Id="Rda1f379601884df3" /><Relationship Type="http://schemas.openxmlformats.org/officeDocument/2006/relationships/slideLayout" Target="/ppt/slideLayouts/slideLayout4.xml" Id="Rf12489b436d24e43" /><Relationship Type="http://schemas.openxmlformats.org/officeDocument/2006/relationships/slideLayout" Target="/ppt/slideLayouts/slideLayout5.xml" Id="Rd3a4d86386d14baa" /><Relationship Type="http://schemas.openxmlformats.org/officeDocument/2006/relationships/slideLayout" Target="/ppt/slideLayouts/slideLayout6.xml" Id="Rc47af3df791f420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2fb7fcab61472d"/>
    <p:sldLayoutId xmlns:r="http://schemas.openxmlformats.org/officeDocument/2006/relationships" id="2147483650" r:id="R23c72ed4239a42d3"/>
    <p:sldLayoutId xmlns:r="http://schemas.openxmlformats.org/officeDocument/2006/relationships" id="2147483651" r:id="Rda1f379601884df3"/>
    <p:sldLayoutId xmlns:r="http://schemas.openxmlformats.org/officeDocument/2006/relationships" id="2147483652" r:id="Rf12489b436d24e43"/>
    <p:sldLayoutId xmlns:r="http://schemas.openxmlformats.org/officeDocument/2006/relationships" id="2147483653" r:id="Rd3a4d86386d14baa"/>
    <p:sldLayoutId xmlns:r="http://schemas.openxmlformats.org/officeDocument/2006/relationships" id="2147483654" r:id="Rc47af3df791f420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8206531a424acd" /><Relationship Type="http://schemas.openxmlformats.org/officeDocument/2006/relationships/image" Target="/ppt/media/image.png" Id="Rcff45ea0dbc449e1" /><Relationship Type="http://schemas.openxmlformats.org/officeDocument/2006/relationships/notesSlide" Target="/ppt/notesSlides/notesSlide1.xml" Id="R948235c755154e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2d75b3edcf4a44" /><Relationship Type="http://schemas.openxmlformats.org/officeDocument/2006/relationships/notesSlide" Target="/ppt/notesSlides/notesSlide2.xml" Id="R8e8cc7b80fe243d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c50d4873ba4dea" /><Relationship Type="http://schemas.openxmlformats.org/officeDocument/2006/relationships/chart" Target="/ppt/slides/charts/chart1.xml" Id="Rc8a582524bb0410b" /><Relationship Type="http://schemas.openxmlformats.org/officeDocument/2006/relationships/notesSlide" Target="/ppt/notesSlides/notesSlide3.xml" Id="R789b9bff3b264bc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f95193e7bb4412" /><Relationship Type="http://schemas.openxmlformats.org/officeDocument/2006/relationships/chart" Target="/ppt/slides/charts/chart2.xml" Id="R92873fe6c4854102" /><Relationship Type="http://schemas.openxmlformats.org/officeDocument/2006/relationships/notesSlide" Target="/ppt/notesSlides/notesSlide4.xml" Id="Rfafc796f464e4a5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98eeb5de784761" /><Relationship Type="http://schemas.openxmlformats.org/officeDocument/2006/relationships/notesSlide" Target="/ppt/notesSlides/notesSlide5.xml" Id="R711e0652e54e47c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956cf95b0d40cd" /><Relationship Type="http://schemas.openxmlformats.org/officeDocument/2006/relationships/notesSlide" Target="/ppt/notesSlides/notesSlide6.xml" Id="Raea010a46e0f4ba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Прокатів за годину</c:v>
          </c:tx>
          <c:spPr>
            <a:solidFill xmlns:a="http://schemas.openxmlformats.org/drawingml/2006/main">
              <a:srgbClr val="C3C6CA"/>
            </a:solidFill>
          </c:spPr>
          <c:invertIfNegative val="0"/>
          <c:dPt>
            <c:idx val="18"/>
            <c:invertIfNegative val="0"/>
            <c:spPr>
              <a:solidFill xmlns:a="http://schemas.openxmlformats.org/drawingml/2006/main">
                <a:srgbClr val="1B4F8A"/>
              </a:solidFill>
            </c:spPr>
          </c:dPt>
          <c:dLbls>
            <c:dLbl>
              <c:idx val="18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725" b="1">
                        <a:solidFill>
                          <a:srgbClr val="1B4F8A"/>
                        </a:solidFill>
                      </a:rPr>
                      <a:t>1 554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725" b="1">
                      <a:solidFill>
                        <a:srgbClr val="1B4F8A"/>
                      </a:solidFill>
                    </a:defRPr>
                  </a:pPr>
                </a:p>
              </c:txPr>
              <c:dLblPos val="outEnd"/>
              <c:showVal val="1"/>
            </c:dLbl>
          </c:dLbls>
          <c:cat>
            <c:numRef>
              <c:f>'Chart Data'!$A$2:$A$25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'Chart Data'!$B$2:$B$25</c:f>
              <c:numCache>
                <c:formatCode>0</c:formatCode>
                <c:ptCount val="24"/>
                <c:pt idx="0">
                  <c:v>561.46</c:v>
                </c:pt>
                <c:pt idx="1">
                  <c:v>441.92</c:v>
                </c:pt>
                <c:pt idx="2">
                  <c:v>312.77</c:v>
                </c:pt>
                <c:pt idx="3">
                  <c:v>210.84</c:v>
                </c:pt>
                <c:pt idx="4">
                  <c:v>137.49</c:v>
                </c:pt>
                <c:pt idx="5">
                  <c:v>144.22</c:v>
                </c:pt>
                <c:pt idx="6">
                  <c:v>298.18</c:v>
                </c:pt>
                <c:pt idx="7">
                  <c:v>626.61</c:v>
                </c:pt>
                <c:pt idx="8">
                  <c:v>1050.23</c:v>
                </c:pt>
                <c:pt idx="9">
                  <c:v>667.94</c:v>
                </c:pt>
                <c:pt idx="10">
                  <c:v>545.76</c:v>
                </c:pt>
                <c:pt idx="11">
                  <c:v>621.28</c:v>
                </c:pt>
                <c:pt idx="12">
                  <c:v>723.22</c:v>
                </c:pt>
                <c:pt idx="13">
                  <c:v>758.17</c:v>
                </c:pt>
                <c:pt idx="14">
                  <c:v>784.62</c:v>
                </c:pt>
                <c:pt idx="15">
                  <c:v>857.37</c:v>
                </c:pt>
                <c:pt idx="16">
                  <c:v>962.26</c:v>
                </c:pt>
                <c:pt idx="17">
                  <c:v>1177.21</c:v>
                </c:pt>
                <c:pt idx="18">
                  <c:v>1554.02</c:v>
                </c:pt>
                <c:pt idx="19">
                  <c:v>1235.78</c:v>
                </c:pt>
                <c:pt idx="20">
                  <c:v>1105.3</c:v>
                </c:pt>
                <c:pt idx="21">
                  <c:v>1066.51</c:v>
                </c:pt>
                <c:pt idx="22">
                  <c:v>954.17</c:v>
                </c:pt>
                <c:pt idx="23">
                  <c:v>693.94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Open Sans"/>
                  <a:ea typeface="Open Sans"/>
                  <a:cs typeface="Ope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Open Sans"/>
                    <a:ea typeface="Open Sans"/>
                    <a:cs typeface="Open Sans"/>
                  </a:rPr>
                  <a:t>Година доби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Open Sans"/>
                  <a:ea typeface="Open Sans"/>
                  <a:cs typeface="Ope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Open Sans"/>
                <a:ea typeface="Open Sans"/>
                <a:cs typeface="Open Sans"/>
              </a:defRPr>
            </a:pPr>
          </a:p>
        </c:txPr>
        <c:crossAx val="48672768"/>
      </c:catAx>
      <c:valAx>
        <c:axId val="48672768"/>
        <c:scaling>
          <c:orientation val="minMax"/>
          <c:max val="18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5E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Open Sans"/>
                    <a:ea typeface="Open Sans"/>
                    <a:cs typeface="Open Sans"/>
                  </a:rPr>
                  <a:t>Середня кількість прокатів за годину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Open Sans"/>
                  <a:ea typeface="Open Sans"/>
                  <a:cs typeface="Open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Open Sans"/>
                <a:ea typeface="Open Sans"/>
                <a:cs typeface="Open Sans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varyColors val="0"/>
        <c:ser>
          <c:idx val="0"/>
          <c:order val="0"/>
          <c:tx>
            <c:v>Середній попит</c:v>
          </c:tx>
          <c:spPr>
            <a:solidFill xmlns:a="http://schemas.openxmlformats.org/drawingml/2006/main">
              <a:srgbClr val="C3C6CA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1B4F8A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Літо</c:v>
                </c:pt>
                <c:pt idx="1">
                  <c:v>Осінь</c:v>
                </c:pt>
                <c:pt idx="2">
                  <c:v>Весна</c:v>
                </c:pt>
                <c:pt idx="3">
                  <c:v>Зима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1034.07</c:v>
                </c:pt>
                <c:pt idx="1">
                  <c:v>924.11</c:v>
                </c:pt>
                <c:pt idx="2">
                  <c:v>746.25</c:v>
                </c:pt>
                <c:pt idx="3">
                  <c:v>225.54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02124"/>
                  </a:solidFill>
                  <a:latin typeface="Open Sans"/>
                  <a:ea typeface="Open Sans"/>
                  <a:cs typeface="Open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  <a:latin typeface="Open Sans"/>
                <a:ea typeface="Open Sans"/>
                <a:cs typeface="Open Sans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Open Sans"/>
                    <a:ea typeface="Open Sans"/>
                    <a:cs typeface="Open Sans"/>
                  </a:rPr>
                  <a:t>Середня кількість прокатів за годину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Open Sans"/>
                  <a:ea typeface="Open Sans"/>
                  <a:cs typeface="Open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Open Sans"/>
                <a:ea typeface="Open Sans"/>
                <a:cs typeface="Open Sans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F33712-BA78-4FA2-B27B-48C30D28E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02124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02124"/>
                </a:solidFill>
              </a:defRPr>
            </a:pPr>
            <a:r>
              <a:rPr sz="3000" b="1">
                <a:solidFill>
                  <a:srgbClr val="202124"/>
                </a:solidFill>
              </a:rPr>
              <a:t>Data Story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7482B5-A627-4B31-9F3A-B04E95DCA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4857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B4F8A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B4F8A"/>
                </a:solidFill>
              </a:defRPr>
            </a:pPr>
            <a:r>
              <a:rPr sz="2850" b="1">
                <a:solidFill>
                  <a:srgbClr val="1B4F8A"/>
                </a:solidFill>
              </a:rPr>
              <a:t>Аналітика даних</a:t>
            </a:r>
          </a:p>
          <a:p xmlns:a="http://schemas.openxmlformats.org/drawingml/2006/main">
            <a:pPr>
              <a:defRPr sz="2850" b="1">
                <a:solidFill>
                  <a:srgbClr val="1B4F8A"/>
                </a:solidFill>
              </a:defRPr>
            </a:pPr>
            <a:r>
              <a:rPr sz="2850" b="1">
                <a:solidFill>
                  <a:srgbClr val="1B4F8A"/>
                </a:solidFill>
              </a:rPr>
              <a:t>для роботи й навчання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455EB3-290B-4E0C-BA52-CA5D8843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2124"/>
                </a:solidFill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02124"/>
                </a:solidFill>
              </a:defRPr>
            </a:pPr>
            <a:r>
              <a:rPr sz="2100" b="0">
                <a:solidFill>
                  <a:srgbClr val="202124"/>
                </a:solidFill>
              </a:rPr>
              <a:t>Локальний сервіс: дані,</a:t>
            </a:r>
          </a:p>
          <a:p xmlns:a="http://schemas.openxmlformats.org/drawingml/2006/main">
            <a:pPr>
              <a:defRPr sz="2100" b="0">
                <a:solidFill>
                  <a:srgbClr val="202124"/>
                </a:solidFill>
              </a:defRPr>
            </a:pPr>
            <a:r>
              <a:rPr sz="2100" b="0">
                <a:solidFill>
                  <a:srgbClr val="202124"/>
                </a:solidFill>
              </a:rPr>
              <a:t>графіки, моделі та AI-помічник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40FEB7-6C90-42AC-BEEF-B39A010601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f45ea0dbc449e1"/>
          <a:stretch xmlns:a="http://schemas.openxmlformats.org/drawingml/2006/main"/>
        </p:blipFill>
        <p:spPr>
          <a:xfrm xmlns:a="http://schemas.openxmlformats.org/drawingml/2006/main">
            <a:off x="5953125" y="1996462"/>
            <a:ext cx="5429250" cy="3055577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C55D80-CB98-4B38-9357-CF9E97D66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38875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7A7F86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7A7F86"/>
                </a:solidFill>
              </a:defRPr>
            </a:pPr>
            <a:r>
              <a:rPr sz="1275" b="0">
                <a:solidFill>
                  <a:srgbClr val="7A7F86"/>
                </a:solidFill>
              </a:rPr>
              <a:t>MVP · Python · локальна робота</a:t>
            </a:r>
          </a:p>
        </p:txBody>
      </p:sp>
    </p:spTree>
    <p:extLst>
      <p:ext uri="{BB962C8B-B14F-4D97-AF65-F5344CB8AC3E}">
        <p14:creationId xmlns:p14="http://schemas.microsoft.com/office/powerpoint/2010/main" val="11551194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5D9573-D314-4D4B-977D-6D97F6059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02124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02124"/>
                </a:solidFill>
              </a:defRPr>
            </a:pPr>
            <a:r>
              <a:rPr sz="3000" b="1">
                <a:solidFill>
                  <a:srgbClr val="202124"/>
                </a:solidFill>
              </a:rPr>
              <a:t>Аналітик керує кожним етапом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866EFA-BF03-4BAE-BB83-66CC07D5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85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B4F8A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B4F8A"/>
                </a:solidFill>
              </a:defRPr>
            </a:pPr>
            <a:r>
              <a:rPr sz="2850" b="1">
                <a:solidFill>
                  <a:srgbClr val="1B4F8A"/>
                </a:solidFill>
              </a:rPr>
              <a:t>Дані → огляд → підготовка</a:t>
            </a:r>
          </a:p>
          <a:p xmlns:a="http://schemas.openxmlformats.org/drawingml/2006/main">
            <a:pPr>
              <a:defRPr sz="2850" b="1">
                <a:solidFill>
                  <a:srgbClr val="1B4F8A"/>
                </a:solidFill>
              </a:defRPr>
            </a:pPr>
            <a:r>
              <a:rPr sz="2850" b="1">
                <a:solidFill>
                  <a:srgbClr val="1B4F8A"/>
                </a:solidFill>
              </a:rPr>
              <a:t>→ модель → перевірка → звіт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7B2906-D7BD-4F7F-9F39-B17F4924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6237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02124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02124"/>
                </a:solidFill>
              </a:defRPr>
            </a:pPr>
            <a:r>
              <a:rPr sz="2250" b="0">
                <a:solidFill>
                  <a:srgbClr val="202124"/>
                </a:solidFill>
              </a:rPr>
              <a:t>«Порадь» · «Виконай» · «Поясни результат»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C654E3-B765-4869-B3B7-409B9E2C7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2124"/>
                </a:solidFill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02124"/>
                </a:solidFill>
              </a:defRPr>
            </a:pPr>
            <a:r>
              <a:rPr sz="2100" b="0">
                <a:solidFill>
                  <a:srgbClr val="202124"/>
                </a:solidFill>
              </a:rPr>
              <a:t>AI складає запит. Сервіс перевіряє його.</a:t>
            </a:r>
          </a:p>
          <a:p xmlns:a="http://schemas.openxmlformats.org/drawingml/2006/main">
            <a:pPr>
              <a:defRPr sz="2100" b="0">
                <a:solidFill>
                  <a:srgbClr val="202124"/>
                </a:solidFill>
              </a:defRPr>
            </a:pPr>
            <a:r>
              <a:rPr sz="2100" b="0">
                <a:solidFill>
                  <a:srgbClr val="202124"/>
                </a:solidFill>
              </a:rPr>
              <a:t>Користувач переглядає й застосовує зведення.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980309-BC98-47C8-87BD-7B15B2A5F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38875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7A7F86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7A7F86"/>
                </a:solidFill>
              </a:defRPr>
            </a:pPr>
            <a:r>
              <a:rPr sz="1275" b="0">
                <a:solidFill>
                  <a:srgbClr val="7A7F86"/>
                </a:solidFill>
              </a:rPr>
              <a:t>Оригінальні дані, джерела й історія дій зберігаються</a:t>
            </a:r>
          </a:p>
        </p:txBody>
      </p:sp>
    </p:spTree>
    <p:extLst>
      <p:ext uri="{BB962C8B-B14F-4D97-AF65-F5344CB8AC3E}">
        <p14:creationId xmlns:p14="http://schemas.microsoft.com/office/powerpoint/2010/main" val="20679791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E994C0-4D69-459F-A1EA-1E710D2E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02124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02124"/>
                </a:solidFill>
              </a:defRPr>
            </a:pPr>
            <a:r>
              <a:rPr sz="3000" b="1">
                <a:solidFill>
                  <a:srgbClr val="202124"/>
                </a:solidFill>
              </a:rPr>
              <a:t>Найвищий середній попит — о 18:00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0A19B3A4-86DB-406C-A2E0-C0D6A829C2CD}"/>
              </a:ext>
            </a:extLst>
          </p:cNvPr>
          <p:cNvGraphicFramePr/>
          <p:nvPr/>
        </p:nvGraphicFramePr>
        <p:xfrm>
          <a:off xmlns:a="http://schemas.openxmlformats.org/drawingml/2006/main" x="762000" y="1762125"/>
          <a:ext xmlns:a="http://schemas.openxmlformats.org/drawingml/2006/main" cx="106680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8a582524bb0410b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CBBBED-28ED-40FA-92FA-48CBC1D6E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38875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7A7F86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7A7F86"/>
                </a:solidFill>
              </a:defRPr>
            </a:pPr>
            <a:r>
              <a:rPr sz="1275" b="0">
                <a:solidFill>
                  <a:srgbClr val="7A7F86"/>
                </a:solidFill>
              </a:rPr>
              <a:t>8 465 годин відкритого прокату · UCI · грудень 2017 — листопад 2018 · CC BY 4.0</a:t>
            </a:r>
          </a:p>
        </p:txBody>
      </p:sp>
    </p:spTree>
    <p:extLst>
      <p:ext uri="{BB962C8B-B14F-4D97-AF65-F5344CB8AC3E}">
        <p14:creationId xmlns:p14="http://schemas.microsoft.com/office/powerpoint/2010/main" val="10268961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19741E-AE05-4371-954D-968989F94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02124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02124"/>
                </a:solidFill>
              </a:defRPr>
            </a:pPr>
            <a:r>
              <a:rPr sz="3000" b="1">
                <a:solidFill>
                  <a:srgbClr val="202124"/>
                </a:solidFill>
              </a:rPr>
              <a:t>Влітку середній попит найвищий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10FF40AB-D8DF-46E1-BE63-DD61FB1D39E4}"/>
              </a:ext>
            </a:extLst>
          </p:cNvPr>
          <p:cNvGraphicFramePr/>
          <p:nvPr/>
        </p:nvGraphicFramePr>
        <p:xfrm>
          <a:off xmlns:a="http://schemas.openxmlformats.org/drawingml/2006/main" x="857250" y="1857375"/>
          <a:ext xmlns:a="http://schemas.openxmlformats.org/drawingml/2006/main" cx="10477500" cy="3762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2873fe6c4854102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AE82BD-C775-48B5-9A57-3D8836CD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38875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7A7F86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7A7F86"/>
                </a:solidFill>
              </a:defRPr>
            </a:pPr>
            <a:r>
              <a:rPr sz="1275" b="0">
                <a:solidFill>
                  <a:srgbClr val="7A7F86"/>
                </a:solidFill>
              </a:rPr>
              <a:t>Години відкритого прокату · UCI · CC BY 4.0 · різниця середніх не доводить причину</a:t>
            </a:r>
          </a:p>
        </p:txBody>
      </p:sp>
    </p:spTree>
    <p:extLst>
      <p:ext uri="{BB962C8B-B14F-4D97-AF65-F5344CB8AC3E}">
        <p14:creationId xmlns:p14="http://schemas.microsoft.com/office/powerpoint/2010/main" val="2329537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EE7DFB-12B7-49B2-8335-D082BF12A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02124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02124"/>
                </a:solidFill>
              </a:defRPr>
            </a:pPr>
            <a:r>
              <a:rPr sz="3000" b="1">
                <a:solidFill>
                  <a:srgbClr val="202124"/>
                </a:solidFill>
              </a:rPr>
              <a:t>Модель краще за прогноз середнім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B5E98B-240C-472B-B608-7B949AECF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1085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B4F8A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B4F8A"/>
                </a:solidFill>
              </a:defRPr>
            </a:pPr>
            <a:r>
              <a:rPr sz="3000" b="1">
                <a:solidFill>
                  <a:srgbClr val="1B4F8A"/>
                </a:solidFill>
              </a:rPr>
              <a:t>MAE моделі: 289</a:t>
            </a:r>
          </a:p>
          <a:p xmlns:a="http://schemas.openxmlformats.org/drawingml/2006/main">
            <a:pPr>
              <a:defRPr sz="3000" b="1">
                <a:solidFill>
                  <a:srgbClr val="1B4F8A"/>
                </a:solidFill>
              </a:defRPr>
            </a:pPr>
            <a:r>
              <a:rPr sz="3000" b="1">
                <a:solidFill>
                  <a:srgbClr val="1B4F8A"/>
                </a:solidFill>
              </a:rPr>
              <a:t>MAE прогнозу середнім: 516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D70152-1129-4791-819D-4D2CB580F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02124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02124"/>
                </a:solidFill>
              </a:defRPr>
            </a:pPr>
            <a:r>
              <a:rPr sz="2250" b="0">
                <a:solidFill>
                  <a:srgbClr val="202124"/>
                </a:solidFill>
              </a:rPr>
              <a:t>Тестова вибірка · R² = 0.635</a:t>
            </a:r>
          </a:p>
          <a:p xmlns:a="http://schemas.openxmlformats.org/drawingml/2006/main">
            <a:pPr>
              <a:defRPr sz="2250" b="0">
                <a:solidFill>
                  <a:srgbClr val="202124"/>
                </a:solidFill>
              </a:defRPr>
            </a:pPr>
            <a:r>
              <a:rPr sz="2250" b="0">
                <a:solidFill>
                  <a:srgbClr val="202124"/>
                </a:solidFill>
              </a:rPr>
              <a:t>RMSE = 383 прокатів за годину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7AABBC-DB4E-4284-9D31-BA9D3534B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1085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2124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2124"/>
                </a:solidFill>
              </a:defRPr>
            </a:pPr>
            <a:r>
              <a:rPr sz="2025" b="0">
                <a:solidFill>
                  <a:srgbClr val="202124"/>
                </a:solidFill>
              </a:rPr>
              <a:t>Випадковий поділ показує зв’язки у цих даних.</a:t>
            </a:r>
          </a:p>
          <a:p xmlns:a="http://schemas.openxmlformats.org/drawingml/2006/main">
            <a:pPr>
              <a:defRPr sz="2025" b="0">
                <a:solidFill>
                  <a:srgbClr val="202124"/>
                </a:solidFill>
              </a:defRPr>
            </a:pPr>
            <a:r>
              <a:rPr sz="2025" b="0">
                <a:solidFill>
                  <a:srgbClr val="202124"/>
                </a:solidFill>
              </a:rPr>
              <a:t>Прогноз майбутнього потребує перевірки за часом.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DABD22-8F78-403E-89C3-2E59504D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38875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7A7F86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7A7F86"/>
                </a:solidFill>
              </a:defRPr>
            </a:pPr>
            <a:r>
              <a:rPr sz="1275" b="0">
                <a:solidFill>
                  <a:srgbClr val="7A7F86"/>
                </a:solidFill>
              </a:rPr>
              <a:t>Демонстраційна модель · 70% навчання / 30% тест · UCI Seoul Bike Sharing Demand</a:t>
            </a:r>
          </a:p>
        </p:txBody>
      </p:sp>
    </p:spTree>
    <p:extLst>
      <p:ext uri="{BB962C8B-B14F-4D97-AF65-F5344CB8AC3E}">
        <p14:creationId xmlns:p14="http://schemas.microsoft.com/office/powerpoint/2010/main" val="18456905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C03B2A-594F-4086-A55B-8EE8A611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202124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02124"/>
                </a:solidFill>
              </a:defRPr>
            </a:pPr>
            <a:r>
              <a:rPr sz="3000" b="1">
                <a:solidFill>
                  <a:srgbClr val="202124"/>
                </a:solidFill>
              </a:rPr>
              <a:t>Результат можна перевірити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4A7B08-32D0-4A75-8F54-F9EAC552E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0858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B4F8A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B4F8A"/>
                </a:solidFill>
              </a:defRPr>
            </a:pPr>
            <a:r>
              <a:rPr sz="2550" b="1">
                <a:solidFill>
                  <a:srgbClr val="1B4F8A"/>
                </a:solidFill>
              </a:rPr>
              <a:t>Автор: задум, рішення, перевірка</a:t>
            </a:r>
          </a:p>
          <a:p xmlns:a="http://schemas.openxmlformats.org/drawingml/2006/main">
            <a:pPr>
              <a:defRPr sz="2550" b="1">
                <a:solidFill>
                  <a:srgbClr val="1B4F8A"/>
                </a:solidFill>
              </a:defRPr>
            </a:pPr>
            <a:r>
              <a:rPr sz="2550" b="1">
                <a:solidFill>
                  <a:srgbClr val="1B4F8A"/>
                </a:solidFill>
              </a:rPr>
              <a:t>Codex: реалізація та автоматичні тести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C35B63-5C08-4843-8019-675CD8811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10858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02124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02124"/>
                </a:solidFill>
              </a:defRPr>
            </a:pPr>
            <a:r>
              <a:rPr sz="2250" b="0">
                <a:solidFill>
                  <a:srgbClr val="202124"/>
                </a:solidFill>
              </a:rPr>
              <a:t>Дані та обчислення збережені в DuckDB</a:t>
            </a:r>
          </a:p>
          <a:p xmlns:a="http://schemas.openxmlformats.org/drawingml/2006/main">
            <a:pPr>
              <a:defRPr sz="2250" b="0">
                <a:solidFill>
                  <a:srgbClr val="202124"/>
                </a:solidFill>
              </a:defRPr>
            </a:pPr>
            <a:r>
              <a:rPr sz="2250" b="0">
                <a:solidFill>
                  <a:srgbClr val="202124"/>
                </a:solidFill>
              </a:rPr>
              <a:t>Запити, відповіді й помилки — у журналі</a:t>
            </a:r>
          </a:p>
          <a:p xmlns:a="http://schemas.openxmlformats.org/drawingml/2006/main">
            <a:pPr>
              <a:defRPr sz="2250" b="0">
                <a:solidFill>
                  <a:srgbClr val="202124"/>
                </a:solidFill>
              </a:defRPr>
            </a:pPr>
            <a:r>
              <a:rPr sz="2250" b="0">
                <a:solidFill>
                  <a:srgbClr val="202124"/>
                </a:solidFill>
              </a:rPr>
              <a:t>Знання й джерела — у RAG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863297-AE59-4C07-BE0A-DC7D78E0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38875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7A7F86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7A7F86"/>
                </a:solidFill>
              </a:defRPr>
            </a:pPr>
            <a:r>
              <a:rPr sz="1275" b="0">
                <a:solidFill>
                  <a:srgbClr val="7A7F86"/>
                </a:solidFill>
              </a:rPr>
              <a:t>MVP для демонстрації принципів аналітики даних і математичного моделювання</a:t>
            </a:r>
          </a:p>
        </p:txBody>
      </p:sp>
    </p:spTree>
    <p:extLst>
      <p:ext uri="{BB962C8B-B14F-4D97-AF65-F5344CB8AC3E}">
        <p14:creationId xmlns:p14="http://schemas.microsoft.com/office/powerpoint/2010/main" val="2912888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2026-10-12T13:16:47.7310000Z</dcterms:created>
  <dcterms:modified xsi:type="dcterms:W3CDTF">2026-10-12T13:16:47.7310000Z</dcterms:modified>
</coreProperties>
</file>