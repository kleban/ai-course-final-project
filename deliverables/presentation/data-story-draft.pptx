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e105e3a0d643eb" /><Relationship Type="http://schemas.openxmlformats.org/officeDocument/2006/relationships/extended-properties" Target="/docProps/app.xml" Id="R6512ec05bb094274" /><Relationship Type="http://schemas.openxmlformats.org/officeDocument/2006/relationships/officeDocument" Target="/ppt/presentation.xml" Id="Raa64b5cd2b3e4d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d494b4d4cc48ff"/>
  </p:sldMasterIdLst>
  <p:notesMasterIdLst>
    <p:notesMasterId xmlns:r="http://schemas.openxmlformats.org/officeDocument/2006/relationships" r:id="R99b7023faf634af5"/>
  </p:notesMasterIdLst>
  <p:sldIdLst>
    <p:sldId xmlns:r="http://schemas.openxmlformats.org/officeDocument/2006/relationships" id="256" r:id="R79c09923f0ee494b"/>
    <p:sldId xmlns:r="http://schemas.openxmlformats.org/officeDocument/2006/relationships" id="257" r:id="R5067a271f4514608"/>
    <p:sldId xmlns:r="http://schemas.openxmlformats.org/officeDocument/2006/relationships" id="258" r:id="R89664661c2a54aaf"/>
    <p:sldId xmlns:r="http://schemas.openxmlformats.org/officeDocument/2006/relationships" id="259" r:id="R671b4b9eda7a4ada"/>
    <p:sldId xmlns:r="http://schemas.openxmlformats.org/officeDocument/2006/relationships" id="260" r:id="Rd8eb0408d0194b18"/>
    <p:sldId xmlns:r="http://schemas.openxmlformats.org/officeDocument/2006/relationships" id="261" r:id="R68fce38a148b43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92b3c4180a40d1" /><Relationship Type="http://schemas.openxmlformats.org/officeDocument/2006/relationships/slideMaster" Target="/ppt/slideMasters/slideMaster1.xml" Id="Refd494b4d4cc48ff" /><Relationship Type="http://schemas.openxmlformats.org/officeDocument/2006/relationships/notesMaster" Target="/ppt/notesMasters/notesMaster1.xml" Id="R99b7023faf634af5" /><Relationship Type="http://schemas.openxmlformats.org/officeDocument/2006/relationships/presProps" Target="/ppt/presProps.xml" Id="R2900828729374d35" /><Relationship Type="http://schemas.openxmlformats.org/officeDocument/2006/relationships/tableStyles" Target="/ppt/tableStyles.xml" Id="R788047088a5f4969" /><Relationship Type="http://schemas.openxmlformats.org/officeDocument/2006/relationships/slide" Target="/ppt/slides/slide1.xml" Id="R79c09923f0ee494b" /><Relationship Type="http://schemas.openxmlformats.org/officeDocument/2006/relationships/slide" Target="/ppt/slides/slide2.xml" Id="R5067a271f4514608" /><Relationship Type="http://schemas.openxmlformats.org/officeDocument/2006/relationships/slide" Target="/ppt/slides/slide3.xml" Id="R89664661c2a54aaf" /><Relationship Type="http://schemas.openxmlformats.org/officeDocument/2006/relationships/slide" Target="/ppt/slides/slide4.xml" Id="R671b4b9eda7a4ada" /><Relationship Type="http://schemas.openxmlformats.org/officeDocument/2006/relationships/slide" Target="/ppt/slides/slide5.xml" Id="Rd8eb0408d0194b18" /><Relationship Type="http://schemas.openxmlformats.org/officeDocument/2006/relationships/slide" Target="/ppt/slides/slide6.xml" Id="R68fce38a148b43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9d2098b4fc4c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173916883b4c4e" /><Relationship Type="http://schemas.openxmlformats.org/officeDocument/2006/relationships/notesMaster" Target="/ppt/notesMasters/notesMaster1.xml" Id="R2ddad230cbcb45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6e284f74994d8d" /><Relationship Type="http://schemas.openxmlformats.org/officeDocument/2006/relationships/notesMaster" Target="/ppt/notesMasters/notesMaster1.xml" Id="Rb3cfa786721246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d9217df92a4c0d" /><Relationship Type="http://schemas.openxmlformats.org/officeDocument/2006/relationships/notesMaster" Target="/ppt/notesMasters/notesMaster1.xml" Id="Re7ccf751a9424a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80add7e3f04eb9" /><Relationship Type="http://schemas.openxmlformats.org/officeDocument/2006/relationships/notesMaster" Target="/ppt/notesMasters/notesMaster1.xml" Id="R0a84c21433d04a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3da232982a4355" /><Relationship Type="http://schemas.openxmlformats.org/officeDocument/2006/relationships/notesMaster" Target="/ppt/notesMasters/notesMaster1.xml" Id="R522dae867be741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9689fc840243d1" /><Relationship Type="http://schemas.openxmlformats.org/officeDocument/2006/relationships/notesMaster" Target="/ppt/notesMasters/notesMaster1.xml" Id="R563f67c12bbd42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Мотивація автора: аналітика у власних проєктах і викладання студентам; фінальний проєкт курсу. PROJECT_CONCEPT.md, planning/presentation-brief.md. Зображення книжок — AI-ілюстрація за наданими обкладинками, не фотографія реальної події. Принципи графіків походять із основної лекції.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Погоджений сценарій: завантаження → метадані → огляд → підготовка → модель → перевірка → висновки → звіт. AI викликається явною дією. LLM складає SQL, сервіс перевіряє і виконує його. Код assistant.py, analytical_queries.py. Схему архітектури автор попросив оновити після реалізації.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Джерело: UCI Seoul Bike Sharing Demand, DOI https://doi.org/10.24432/C5F62R, CC BY 4.0. Дані 2017-12-01–2018-11-30. Фільтр Functioning Day=Yes, 8465 годин; 295 годин закритої системи виключено. Середнє о 18:00 =1554.0169971671387, n=353. SQL і незалежна звірка CSV: tools/seoul_demo.py; deliverables/seoul-demo/facts.json.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 саме джерело UCI й фільтр відкритої системи. Це описові середні, не причинний ефект сезону. Вибірки за сезонами різні: n у deliverables/seoul-demo/seasonal.csv; повні точні значення у facts.json.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Демонстраційний вибір агента: лінійна регресія; Hour як категорія, Temperature, Humidity, Wind speed, Seasons; one-hot; random 70/30, seed42. Train-only підготовка. Метрики та коефіцієнти: facts.json. Випадковий поділ часових даних не доводить якість прогнозу майбутнього; можливі від’ємні прогнози.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Ролі за формулюванням автора planning/presentation-brief.md: код сервісу написано із Codex; автор визначає напрям, тестує і приймає результат. Автоматичні перевірки агента окремо: check-115-final.log317/317; браузерний сценарій, реальний SQL OpenAI та RAG. Це чернетка презентації; приймання автора очікується.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e8b18a139b4f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2c13f016284a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07b46f468e49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09bdc46b9b40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c7709311d84b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bdb904018047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5D0D33-F6EE-4247-B9DE-B437C0BBC2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B9B27CD-EC69-4034-B4B7-062AF6CF13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4C15BFF-5ADF-407A-8861-3E4A72C835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3BAD7E-DD6A-4B04-B305-2C9BA58C2A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1E2A015-D219-4EE6-8425-D6CB58B62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22ED171-F610-406D-B258-9CCF1475F8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58934E-CDD9-456A-8702-7857113560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7949C81-5A25-4AC3-9F6F-D7FAC388B1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EB07D7-B20B-47FE-A8BC-B7DDA477CE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56895A-394A-4AFB-97B2-3A08AEBA70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ccbfe95c7e405b" /><Relationship Type="http://schemas.openxmlformats.org/officeDocument/2006/relationships/slideLayout" Target="/ppt/slideLayouts/slideLayout1.xml" Id="R7e0eab2ceaee4a1f" /><Relationship Type="http://schemas.openxmlformats.org/officeDocument/2006/relationships/slideLayout" Target="/ppt/slideLayouts/slideLayout2.xml" Id="R702704ceccf44f9a" /><Relationship Type="http://schemas.openxmlformats.org/officeDocument/2006/relationships/slideLayout" Target="/ppt/slideLayouts/slideLayout3.xml" Id="Re3eac840b92d4756" /><Relationship Type="http://schemas.openxmlformats.org/officeDocument/2006/relationships/slideLayout" Target="/ppt/slideLayouts/slideLayout4.xml" Id="Rb22aafb86e244b2e" /><Relationship Type="http://schemas.openxmlformats.org/officeDocument/2006/relationships/slideLayout" Target="/ppt/slideLayouts/slideLayout5.xml" Id="Read3b634245f449b" /><Relationship Type="http://schemas.openxmlformats.org/officeDocument/2006/relationships/slideLayout" Target="/ppt/slideLayouts/slideLayout6.xml" Id="Rd31cfc23408249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0eab2ceaee4a1f"/>
    <p:sldLayoutId xmlns:r="http://schemas.openxmlformats.org/officeDocument/2006/relationships" id="2147483650" r:id="R702704ceccf44f9a"/>
    <p:sldLayoutId xmlns:r="http://schemas.openxmlformats.org/officeDocument/2006/relationships" id="2147483651" r:id="Re3eac840b92d4756"/>
    <p:sldLayoutId xmlns:r="http://schemas.openxmlformats.org/officeDocument/2006/relationships" id="2147483652" r:id="Rb22aafb86e244b2e"/>
    <p:sldLayoutId xmlns:r="http://schemas.openxmlformats.org/officeDocument/2006/relationships" id="2147483653" r:id="Read3b634245f449b"/>
    <p:sldLayoutId xmlns:r="http://schemas.openxmlformats.org/officeDocument/2006/relationships" id="2147483654" r:id="Rd31cfc23408249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a3a26ed8804496" /><Relationship Type="http://schemas.openxmlformats.org/officeDocument/2006/relationships/image" Target="/ppt/media/image.png" Id="R847b540563b24232" /><Relationship Type="http://schemas.openxmlformats.org/officeDocument/2006/relationships/notesSlide" Target="/ppt/notesSlides/notesSlide1.xml" Id="Re0d1f91e24664b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f887a0a18d4557" /><Relationship Type="http://schemas.openxmlformats.org/officeDocument/2006/relationships/notesSlide" Target="/ppt/notesSlides/notesSlide2.xml" Id="R79c0ec189bc14d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479ea763264685" /><Relationship Type="http://schemas.openxmlformats.org/officeDocument/2006/relationships/chart" Target="/ppt/slides/charts/chart1.xml" Id="R6ebaaa11e94d49dc" /><Relationship Type="http://schemas.openxmlformats.org/officeDocument/2006/relationships/notesSlide" Target="/ppt/notesSlides/notesSlide3.xml" Id="Rcb95b8b66a9249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4a940a28a849b0" /><Relationship Type="http://schemas.openxmlformats.org/officeDocument/2006/relationships/chart" Target="/ppt/slides/charts/chart2.xml" Id="Rc191a4f47abf461a" /><Relationship Type="http://schemas.openxmlformats.org/officeDocument/2006/relationships/notesSlide" Target="/ppt/notesSlides/notesSlide4.xml" Id="Rbcc75cc19d0e46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489ea9e07744b7" /><Relationship Type="http://schemas.openxmlformats.org/officeDocument/2006/relationships/notesSlide" Target="/ppt/notesSlides/notesSlide5.xml" Id="R430fdd34b3334c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e8260b543a4496" /><Relationship Type="http://schemas.openxmlformats.org/officeDocument/2006/relationships/notesSlide" Target="/ppt/notesSlides/notesSlide6.xml" Id="R19fd55658e7c43a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Прокатів за годину</c:v>
          </c:tx>
          <c:spPr>
            <a:solidFill xmlns:a="http://schemas.openxmlformats.org/drawingml/2006/main">
              <a:srgbClr val="C3C6CA"/>
            </a:solidFill>
          </c:spPr>
          <c:invertIfNegative val="0"/>
          <c:dPt>
            <c:idx val="18"/>
            <c:invertIfNegative val="0"/>
            <c:spPr>
              <a:solidFill xmlns:a="http://schemas.openxmlformats.org/drawingml/2006/main">
                <a:srgbClr val="1B4F8A"/>
              </a:solidFill>
            </c:spPr>
          </c:dPt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725" b="1">
                        <a:solidFill>
                          <a:srgbClr val="1B4F8A"/>
                        </a:solidFill>
                      </a:rPr>
                      <a:t>1 554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25" b="1">
                      <a:solidFill>
                        <a:srgbClr val="1B4F8A"/>
                      </a:solidFill>
                    </a:defRPr>
                  </a:pPr>
                </a:p>
              </c:txPr>
              <c:dLblPos val="outEnd"/>
              <c:showVal val="1"/>
            </c:dLbl>
          </c:dLbls>
          <c:cat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'Chart Data'!$B$2:$B$25</c:f>
              <c:numCache>
                <c:formatCode>0</c:formatCode>
                <c:ptCount val="24"/>
                <c:pt idx="0">
                  <c:v>561.46</c:v>
                </c:pt>
                <c:pt idx="1">
                  <c:v>441.92</c:v>
                </c:pt>
                <c:pt idx="2">
                  <c:v>312.77</c:v>
                </c:pt>
                <c:pt idx="3">
                  <c:v>210.84</c:v>
                </c:pt>
                <c:pt idx="4">
                  <c:v>137.49</c:v>
                </c:pt>
                <c:pt idx="5">
                  <c:v>144.22</c:v>
                </c:pt>
                <c:pt idx="6">
                  <c:v>298.18</c:v>
                </c:pt>
                <c:pt idx="7">
                  <c:v>626.61</c:v>
                </c:pt>
                <c:pt idx="8">
                  <c:v>1050.23</c:v>
                </c:pt>
                <c:pt idx="9">
                  <c:v>667.94</c:v>
                </c:pt>
                <c:pt idx="10">
                  <c:v>545.76</c:v>
                </c:pt>
                <c:pt idx="11">
                  <c:v>621.28</c:v>
                </c:pt>
                <c:pt idx="12">
                  <c:v>723.22</c:v>
                </c:pt>
                <c:pt idx="13">
                  <c:v>758.17</c:v>
                </c:pt>
                <c:pt idx="14">
                  <c:v>784.62</c:v>
                </c:pt>
                <c:pt idx="15">
                  <c:v>857.37</c:v>
                </c:pt>
                <c:pt idx="16">
                  <c:v>962.26</c:v>
                </c:pt>
                <c:pt idx="17">
                  <c:v>1177.21</c:v>
                </c:pt>
                <c:pt idx="18">
                  <c:v>1554.02</c:v>
                </c:pt>
                <c:pt idx="19">
                  <c:v>1235.78</c:v>
                </c:pt>
                <c:pt idx="20">
                  <c:v>1105.3</c:v>
                </c:pt>
                <c:pt idx="21">
                  <c:v>1066.51</c:v>
                </c:pt>
                <c:pt idx="22">
                  <c:v>954.17</c:v>
                </c:pt>
                <c:pt idx="23">
                  <c:v>693.94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Open Sans"/>
                  <a:ea typeface="Open Sans"/>
                  <a:cs typeface="Ope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Open Sans"/>
                    <a:ea typeface="Open Sans"/>
                    <a:cs typeface="Open Sans"/>
                  </a:rPr>
                  <a:t>Година доби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Open Sans"/>
                  <a:ea typeface="Open Sans"/>
                  <a:cs typeface="Ope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Open Sans"/>
                <a:ea typeface="Open Sans"/>
                <a:cs typeface="Open Sans"/>
              </a:defRPr>
            </a:pPr>
          </a:p>
        </c:txPr>
        <c:crossAx val="48672768"/>
      </c:catAx>
      <c:valAx>
        <c:axId val="48672768"/>
        <c:scaling>
          <c:orientation val="minMax"/>
          <c:max val="18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5E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Open Sans"/>
                    <a:ea typeface="Open Sans"/>
                    <a:cs typeface="Open Sans"/>
                  </a:rPr>
                  <a:t>Середня кількість прокатів за годину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Open Sans"/>
                  <a:ea typeface="Open Sans"/>
                  <a:cs typeface="Ope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Open Sans"/>
                <a:ea typeface="Open Sans"/>
                <a:cs typeface="Open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varyColors val="0"/>
        <c:ser>
          <c:idx val="0"/>
          <c:order val="0"/>
          <c:tx>
            <c:v>Середній попит</c:v>
          </c:tx>
          <c:spPr>
            <a:solidFill xmlns:a="http://schemas.openxmlformats.org/drawingml/2006/main">
              <a:srgbClr val="C3C6C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B4F8A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Літо</c:v>
                </c:pt>
                <c:pt idx="1">
                  <c:v>Осінь</c:v>
                </c:pt>
                <c:pt idx="2">
                  <c:v>Весна</c:v>
                </c:pt>
                <c:pt idx="3">
                  <c:v>Зима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1034.07</c:v>
                </c:pt>
                <c:pt idx="1">
                  <c:v>924.11</c:v>
                </c:pt>
                <c:pt idx="2">
                  <c:v>746.25</c:v>
                </c:pt>
                <c:pt idx="3">
                  <c:v>225.54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124"/>
                  </a:solidFill>
                  <a:latin typeface="Open Sans"/>
                  <a:ea typeface="Open Sans"/>
                  <a:cs typeface="Open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Open Sans"/>
                <a:ea typeface="Open Sans"/>
                <a:cs typeface="Open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Open Sans"/>
                    <a:ea typeface="Open Sans"/>
                    <a:cs typeface="Open Sans"/>
                  </a:rPr>
                  <a:t>Середня кількість прокатів за годину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Open Sans"/>
                  <a:ea typeface="Open Sans"/>
                  <a:cs typeface="Ope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Open Sans"/>
                <a:ea typeface="Open Sans"/>
                <a:cs typeface="Open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A4DD2-FEDC-4949-AC06-580A9860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Data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B8850-5BAC-4BC2-88D5-D0E9F549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pPr>
            <a:r>
              <a:rPr sz="2850" b="1">
                <a:solidFill>
                  <a:srgbClr val="1B4F8A"/>
                </a:solidFill>
                <a:latin typeface="Open Sans"/>
                <a:ea typeface="Open Sans"/>
                <a:cs typeface="Open Sans"/>
              </a:rPr>
              <a:t>Аналітика даних</a:t>
            </a:r>
          </a:p>
          <a:p xmlns:a="http://schemas.openxmlformats.org/drawingml/2006/main">
            <a:pPr>
              <a:defRPr sz="285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pPr>
            <a:r>
              <a:rPr sz="2850" b="1">
                <a:solidFill>
                  <a:srgbClr val="1B4F8A"/>
                </a:solidFill>
                <a:latin typeface="Open Sans"/>
                <a:ea typeface="Open Sans"/>
                <a:cs typeface="Open Sans"/>
              </a:rPr>
              <a:t>для роботи й навчання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21E29-22D1-4673-97EE-5F1A1228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100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Локальний сервіс: дані,</a:t>
            </a:r>
          </a:p>
          <a:p xmlns:a="http://schemas.openxmlformats.org/drawingml/2006/main">
            <a:pPr>
              <a:defRPr sz="210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100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графіки, моделі та AI-помічник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CD01D-80BF-4329-874E-A3558F6E2D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b540563b24232"/>
          <a:stretch xmlns:a="http://schemas.openxmlformats.org/drawingml/2006/main"/>
        </p:blipFill>
        <p:spPr>
          <a:xfrm xmlns:a="http://schemas.openxmlformats.org/drawingml/2006/main">
            <a:off x="5953125" y="1996462"/>
            <a:ext cx="5429250" cy="305557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1856B-FB85-459A-8B9B-63AE11C7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rPr>
              <a:t>MVP · Python · локальна робота</a:t>
            </a:r>
          </a:p>
        </p:txBody>
      </p:sp>
    </p:spTree>
    <p:extLst>
      <p:ext uri="{BB962C8B-B14F-4D97-AF65-F5344CB8AC3E}">
        <p14:creationId xmlns:p14="http://schemas.microsoft.com/office/powerpoint/2010/main" val="889987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B8B68-F621-4F32-B303-85894B51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Аналітик керує кожним етапом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29A7B-E42C-4397-B33F-BBFF98EB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pPr>
            <a:r>
              <a:rPr sz="2850" b="1">
                <a:solidFill>
                  <a:srgbClr val="1B4F8A"/>
                </a:solidFill>
                <a:latin typeface="Open Sans"/>
                <a:ea typeface="Open Sans"/>
                <a:cs typeface="Open Sans"/>
              </a:rPr>
              <a:t>Дані → огляд → підготовка</a:t>
            </a:r>
          </a:p>
          <a:p xmlns:a="http://schemas.openxmlformats.org/drawingml/2006/main">
            <a:pPr>
              <a:defRPr sz="285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pPr>
            <a:r>
              <a:rPr sz="2850" b="1">
                <a:solidFill>
                  <a:srgbClr val="1B4F8A"/>
                </a:solidFill>
                <a:latin typeface="Open Sans"/>
                <a:ea typeface="Open Sans"/>
                <a:cs typeface="Open Sans"/>
              </a:rPr>
              <a:t>→ модель → перевірка → звіт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F0961-036E-4362-9BF5-73FDBF1C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«Порадь» · «Виконай» · «Поясни результат»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61E53-51BC-4962-B9B9-AD3A4EFA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100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AI складає запит. Сервіс перевіряє його.</a:t>
            </a:r>
          </a:p>
          <a:p xmlns:a="http://schemas.openxmlformats.org/drawingml/2006/main">
            <a:pPr>
              <a:defRPr sz="210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100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Користувач переглядає й застосовує зведення.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D69CB-EEEB-4846-83F6-C9FAC6A9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rPr>
              <a:t>Оригінальні дані, джерела й історія дій зберігаються</a:t>
            </a:r>
          </a:p>
        </p:txBody>
      </p:sp>
    </p:spTree>
    <p:extLst>
      <p:ext uri="{BB962C8B-B14F-4D97-AF65-F5344CB8AC3E}">
        <p14:creationId xmlns:p14="http://schemas.microsoft.com/office/powerpoint/2010/main" val="1203224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43A11-CE40-4BCD-B1BC-4E09F051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Найвищий середній попит — о 18:00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6D869DB9-53EC-40F9-993C-559DC01D9156}"/>
              </a:ext>
            </a:extLst>
          </p:cNvPr>
          <p:cNvGraphicFramePr/>
          <p:nvPr/>
        </p:nvGraphicFramePr>
        <p:xfrm>
          <a:off xmlns:a="http://schemas.openxmlformats.org/drawingml/2006/main" x="762000" y="1762125"/>
          <a:ext xmlns:a="http://schemas.openxmlformats.org/drawingml/2006/main" cx="1066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baaa11e94d49dc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483CF-BE0F-4A6A-83A7-A846453A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rPr>
              <a:t>8 465 годин відкритого прокату · UCI · грудень 2017 — листопад 2018 · CC BY 4.0</a:t>
            </a:r>
          </a:p>
        </p:txBody>
      </p:sp>
    </p:spTree>
    <p:extLst>
      <p:ext uri="{BB962C8B-B14F-4D97-AF65-F5344CB8AC3E}">
        <p14:creationId xmlns:p14="http://schemas.microsoft.com/office/powerpoint/2010/main" val="3655936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CBD4C-8DF8-497B-99BA-B196464D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Влітку середній попит найвищий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C94CE9BC-3434-432A-B4C2-BE9149AE7C81}"/>
              </a:ext>
            </a:extLst>
          </p:cNvPr>
          <p:cNvGraphicFramePr/>
          <p:nvPr/>
        </p:nvGraphicFramePr>
        <p:xfrm>
          <a:off xmlns:a="http://schemas.openxmlformats.org/drawingml/2006/main" x="857250" y="1857375"/>
          <a:ext xmlns:a="http://schemas.openxmlformats.org/drawingml/2006/main" cx="104775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91a4f47abf461a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5F87B-1630-44E4-9682-7B5AB12E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rPr>
              <a:t>Години відкритого прокату · UCI · CC BY 4.0 · різниця середніх не доводить причину</a:t>
            </a:r>
          </a:p>
        </p:txBody>
      </p:sp>
    </p:spTree>
    <p:extLst>
      <p:ext uri="{BB962C8B-B14F-4D97-AF65-F5344CB8AC3E}">
        <p14:creationId xmlns:p14="http://schemas.microsoft.com/office/powerpoint/2010/main" val="8791913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B5FCE-4A18-4885-9B97-82CEBC23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Модель краще за прогноз середнім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0053F-F26A-41D5-AE15-989499B2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pPr>
            <a:r>
              <a:rPr sz="3000" b="1">
                <a:solidFill>
                  <a:srgbClr val="1B4F8A"/>
                </a:solidFill>
                <a:latin typeface="Open Sans"/>
                <a:ea typeface="Open Sans"/>
                <a:cs typeface="Open Sans"/>
              </a:rPr>
              <a:t>MAE моделі: 289</a:t>
            </a:r>
          </a:p>
          <a:p xmlns:a="http://schemas.openxmlformats.org/drawingml/2006/main">
            <a:pPr>
              <a:defRPr sz="300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pPr>
            <a:r>
              <a:rPr sz="3000" b="1">
                <a:solidFill>
                  <a:srgbClr val="1B4F8A"/>
                </a:solidFill>
                <a:latin typeface="Open Sans"/>
                <a:ea typeface="Open Sans"/>
                <a:cs typeface="Open Sans"/>
              </a:rPr>
              <a:t>MAE прогнозу середнім: 516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E3089-C20C-492E-92F2-358966BC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Тестова вибірка · R² = 0.635</a:t>
            </a:r>
          </a:p>
          <a:p xmlns:a="http://schemas.openxmlformats.org/drawingml/2006/main">
            <a:pPr>
              <a:def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RMSE = 383 прокатів за годину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0561A-2FE6-4D00-8AE0-F468747C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025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Випадковий поділ показує зв’язки у цих даних.</a:t>
            </a:r>
          </a:p>
          <a:p xmlns:a="http://schemas.openxmlformats.org/drawingml/2006/main">
            <a:pPr>
              <a:defRPr sz="2025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025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Прогноз майбутнього потребує перевірки за часом.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F1C11-82CE-4C35-BF8E-E346E832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rPr>
              <a:t>Демонстраційна модель · 70% навчання / 30% тест · UCI Seoul Bike Sharing Demand</a:t>
            </a:r>
          </a:p>
        </p:txBody>
      </p:sp>
    </p:spTree>
    <p:extLst>
      <p:ext uri="{BB962C8B-B14F-4D97-AF65-F5344CB8AC3E}">
        <p14:creationId xmlns:p14="http://schemas.microsoft.com/office/powerpoint/2010/main" val="50076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B4162-87B8-40D2-9323-305E84D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Результат можна перевірити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C7573-766F-42AE-920F-70D6D731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85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pPr>
            <a:r>
              <a:rPr sz="2550" b="1">
                <a:solidFill>
                  <a:srgbClr val="1B4F8A"/>
                </a:solidFill>
                <a:latin typeface="Open Sans"/>
                <a:ea typeface="Open Sans"/>
                <a:cs typeface="Open Sans"/>
              </a:rPr>
              <a:t>Автор: задум, рішення, перевірка</a:t>
            </a:r>
          </a:p>
          <a:p xmlns:a="http://schemas.openxmlformats.org/drawingml/2006/main">
            <a:pPr>
              <a:defRPr sz="255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pPr>
            <a:r>
              <a:rPr sz="2550" b="1">
                <a:solidFill>
                  <a:srgbClr val="1B4F8A"/>
                </a:solidFill>
                <a:latin typeface="Open Sans"/>
                <a:ea typeface="Open Sans"/>
                <a:cs typeface="Open Sans"/>
              </a:rPr>
              <a:t>Codex: реалізація та автоматичні тести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D3666-A5DF-45D3-848E-4ADE6F76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Дані та обчислення збережені в DuckDB</a:t>
            </a:r>
          </a:p>
          <a:p xmlns:a="http://schemas.openxmlformats.org/drawingml/2006/main">
            <a:pPr>
              <a:def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Запити, відповіді й помилки — у журналі</a:t>
            </a:r>
          </a:p>
          <a:p xmlns:a="http://schemas.openxmlformats.org/drawingml/2006/main">
            <a:pPr>
              <a:def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Знання й джерела — у 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AF5B0-7C01-45EB-94DF-5249EA3A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rPr>
              <a:t>MVP для демонстрації принципів аналітики даних і математичного моделювання</a:t>
            </a:r>
          </a:p>
        </p:txBody>
      </p:sp>
    </p:spTree>
    <p:extLst>
      <p:ext uri="{BB962C8B-B14F-4D97-AF65-F5344CB8AC3E}">
        <p14:creationId xmlns:p14="http://schemas.microsoft.com/office/powerpoint/2010/main" val="879356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2026-10-12T13:18:23.6010000Z</dcterms:created>
  <dcterms:modified xsi:type="dcterms:W3CDTF">2026-10-12T13:18:23.6010000Z</dcterms:modified>
</coreProperties>
</file>